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85800"/>
            <a:ext cx="3749040" cy="3749040"/>
          </a:xfrm>
          <a:prstGeom prst="ellipse">
            <a:avLst/>
          </a:prstGeom>
          <a:solidFill>
            <a:srgbClr val="1B1433"/>
          </a:solidFill>
          <a:ln w="12700">
            <a:solidFill>
              <a:srgbClr val="2A1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97880" y="1188720"/>
            <a:ext cx="2743200" cy="2743200"/>
          </a:xfrm>
          <a:prstGeom prst="ellipse">
            <a:avLst/>
          </a:prstGeom>
          <a:solidFill>
            <a:srgbClr val="231A42"/>
          </a:solidFill>
          <a:ln w="12700">
            <a:solidFill>
              <a:srgbClr val="2A1F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2011680" cy="2011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017520"/>
            <a:ext cx="731520" cy="7315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063240"/>
            <a:ext cx="685800" cy="6858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749040"/>
            <a:ext cx="640080" cy="64008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457200" y="1600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Style Guide</a:t>
            </a:r>
            <a:endParaRPr lang="en-US" sz="4200" dirty="0"/>
          </a:p>
        </p:txBody>
      </p:sp>
      <p:sp>
        <p:nvSpPr>
          <p:cNvPr id="10" name="Text 4"/>
          <p:cNvSpPr txBox="1"/>
          <p:nvPr/>
        </p:nvSpPr>
        <p:spPr>
          <a:xfrm>
            <a:off x="45720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· Alanthor · Runai · Feraldis · The Curse · Nature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457200" y="3200400"/>
            <a:ext cx="256032" cy="256032"/>
          </a:xfrm>
          <a:prstGeom prst="ellipse">
            <a:avLst/>
          </a:prstGeom>
          <a:solidFill>
            <a:srgbClr val="FFB05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41248" y="3200400"/>
            <a:ext cx="256032" cy="256032"/>
          </a:xfrm>
          <a:prstGeom prst="ellipse">
            <a:avLst/>
          </a:prstGeom>
          <a:solidFill>
            <a:srgbClr val="8CA68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225296" y="3200400"/>
            <a:ext cx="256032" cy="256032"/>
          </a:xfrm>
          <a:prstGeom prst="ellipse">
            <a:avLst/>
          </a:prstGeom>
          <a:solidFill>
            <a:srgbClr val="D9A44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609344" y="3200400"/>
            <a:ext cx="256032" cy="256032"/>
          </a:xfrm>
          <a:prstGeom prst="ellipse">
            <a:avLst/>
          </a:prstGeom>
          <a:solidFill>
            <a:srgbClr val="9E2A2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993392" y="3200400"/>
            <a:ext cx="256032" cy="256032"/>
          </a:xfrm>
          <a:prstGeom prst="ellipse">
            <a:avLst/>
          </a:prstGeom>
          <a:solidFill>
            <a:srgbClr val="B14B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377440" y="3200400"/>
            <a:ext cx="256032" cy="256032"/>
          </a:xfrm>
          <a:prstGeom prst="ellipse">
            <a:avLst/>
          </a:prstGeom>
          <a:solidFill>
            <a:srgbClr val="5FD8E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761488" y="3200400"/>
            <a:ext cx="256032" cy="256032"/>
          </a:xfrm>
          <a:prstGeom prst="ellipse">
            <a:avLst/>
          </a:prstGeom>
          <a:solidFill>
            <a:srgbClr val="3F5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Shardroot  ·  Source of truth: docs/Design  ·  September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THE LOOK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stylised low-poly RTS at dusk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like DOTA 2 and League of Legends; lit like dusk. Applies to every culture and age.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5920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60704" y="1627632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Dusk light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2084832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navy-teal ambient, one cool sun (#C8D4E6). Every point of warmth on screen is EMITTED — windows, torches, crystals — and blooms.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49168" y="1481328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645920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52672" y="1627632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Stylised, not filmic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413760" y="2084832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tonemap, saturation +22, light coloured shadows. Smoothness and metallic capped at 0.30. No film grain, no depth of field.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041136" y="1481328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728" y="164592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44640" y="1627632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player colour lives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205728" y="2084832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 / window glow and cloth (banners, awnings, tabards). Roofs are dark. Units: ring, health bar, minimap, plus trim and shield.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200400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64992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60704" y="3346704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Readability first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21792" y="3803904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stays mid-value (open moss ≥ 0.22 luminance). Units read lighter than the ground at max zoom; silhouettes read in a 64×64 minimap tile.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49168" y="3200400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3364992"/>
            <a:ext cx="329184" cy="32918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852672" y="3346704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glow means something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3413760" y="3803904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the curse. Cyan = veilstone. Green = a curse pool. Orange = fire. They never share an object.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041136" y="3200400"/>
            <a:ext cx="2645664" cy="1572768"/>
          </a:xfrm>
          <a:prstGeom prst="roundRect">
            <a:avLst>
              <a:gd name="adj" fmla="val 348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728" y="3364992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644640" y="3346704"/>
            <a:ext cx="1914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Hand-painted surfaces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205728" y="3803904"/>
            <a:ext cx="2316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Low-frequency, mid-value albedo with lighting hinted in. Big painted value shapes, not noise. Low-poly, 512² buildings, 256² units.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THE EMISSIVE LADDER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ladder glows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is EmissionMap × EmissionColor (HDR). Below ×1 nothing blooms. Code home: EmissiveLadder.cs.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windows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14600" y="1517904"/>
            <a:ext cx="1257300" cy="164592"/>
          </a:xfrm>
          <a:prstGeom prst="rect">
            <a:avLst/>
          </a:prstGeom>
          <a:solidFill>
            <a:srgbClr val="FFB05A"/>
          </a:solidFill>
          <a:ln w="12700">
            <a:solidFill>
              <a:srgbClr val="FFB0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5052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×2.5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complete building; dark = under construction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pool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14600" y="1847088"/>
            <a:ext cx="1005840" cy="164592"/>
          </a:xfrm>
          <a:prstGeom prst="rect">
            <a:avLst/>
          </a:prstGeom>
          <a:solidFill>
            <a:srgbClr val="7FCB3A"/>
          </a:solidFill>
          <a:ln w="12700">
            <a:solidFill>
              <a:srgbClr val="7FCB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93592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C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×2.0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faint; the centre of a pocket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Faction lanterns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14600" y="2176272"/>
            <a:ext cx="1508760" cy="164592"/>
          </a:xfrm>
          <a:prstGeom prst="rect">
            <a:avLst/>
          </a:prstGeom>
          <a:solidFill>
            <a:srgbClr val="7FA8FF"/>
          </a:solidFill>
          <a:ln w="12700">
            <a:solidFill>
              <a:srgbClr val="7FA8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96512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×3.0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21214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owner's glow colour (hue kept, sat ≥ 0.55, val ≥ 0.85)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crystals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14600" y="2505456"/>
            <a:ext cx="1508760" cy="164592"/>
          </a:xfrm>
          <a:prstGeom prst="rect">
            <a:avLst/>
          </a:prstGeom>
          <a:solidFill>
            <a:srgbClr val="5FD8E8"/>
          </a:solidFill>
          <a:ln w="12700">
            <a:solidFill>
              <a:srgbClr val="5FD8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9651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×3.0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080760" y="2450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minable resource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 seams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514600" y="2834640"/>
            <a:ext cx="1508760" cy="164592"/>
          </a:xfrm>
          <a:prstGeom prst="rect">
            <a:avLst/>
          </a:prstGeom>
          <a:solidFill>
            <a:srgbClr val="3AD6FF"/>
          </a:solidFill>
          <a:ln w="12700">
            <a:solidFill>
              <a:srgbClr val="3AD6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96512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×3.0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27797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fissures; cyan near outcrops → purple near wells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cracks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14600" y="3163824"/>
            <a:ext cx="1508760" cy="164592"/>
          </a:xfrm>
          <a:prstGeom prst="rect">
            <a:avLst/>
          </a:prstGeom>
          <a:solidFill>
            <a:srgbClr val="FF6A2A"/>
          </a:solidFill>
          <a:ln w="12700">
            <a:solidFill>
              <a:srgbClr val="FF6A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96512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×3.0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080760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ground; flickers in the shader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4381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crystals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514600" y="3493008"/>
            <a:ext cx="2011680" cy="164592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99432" y="3438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×4.0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080760" y="3438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and pockets; strongest static glow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border line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514600" y="3822192"/>
            <a:ext cx="2011680" cy="164592"/>
          </a:xfrm>
          <a:prstGeom prst="rect">
            <a:avLst/>
          </a:prstGeom>
          <a:solidFill>
            <a:srgbClr val="A9C49C"/>
          </a:solidFill>
          <a:ln w="12700">
            <a:solidFill>
              <a:srgbClr val="A9C49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99432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×4.0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080760" y="3767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glow + crackle; unclaimed lines never glow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hold ring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514600" y="4151376"/>
            <a:ext cx="2514600" cy="164592"/>
          </a:xfrm>
          <a:prstGeom prst="rect">
            <a:avLst/>
          </a:prstGeom>
          <a:solidFill>
            <a:srgbClr val="FF3AD6"/>
          </a:solidFill>
          <a:ln w="12700">
            <a:solidFill>
              <a:srgbClr val="FF3AD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102352" y="4096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×5.0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080760" y="4096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brightest line on the map — the match clock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Shardroot gem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514600" y="4480560"/>
            <a:ext cx="3017520" cy="164592"/>
          </a:xfrm>
          <a:prstGeom prst="rect">
            <a:avLst/>
          </a:prstGeom>
          <a:solidFill>
            <a:srgbClr val="A8F4FF"/>
          </a:solidFill>
          <a:ln w="12700">
            <a:solidFill>
              <a:srgbClr val="A8F4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05272" y="4425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×6.0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6080760" y="4425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rung; the power artifact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VFX keep their own authored intensities and sit above the ladder. Flicker is a shader time term, never a script.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· OVERALL THEME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0 — the frontier settlement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B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by everyone, before a culture is chosen. Timber and earth against a waning curse.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482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building's Lv0 neutral model. No culture styling, no stone paving; you hold only your start region.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Timber, rough stone, thatch or shingle, quilted cloth, leather. The wall is a split-log palisade.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Earthen trails and plazas everywhere — the map's own dirt, lifted, with wheel ruts.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 hearth pushes back the purple haze; cyan veilstone and purple pockets dot the map.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478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point light on large buildings only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windows dark while under construction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always lighter than the ground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10128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547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21608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3419856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aesthetics or paving in Age 0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and cyan on one object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cues: grain, DOF, high specular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00800" y="1691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F5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86600" y="1673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#3F5A3A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0" y="21488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2E443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086600" y="2130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 dark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#2E4430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0" y="26060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5A4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086600" y="25877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 path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#5A4A3A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0" y="30632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6E6C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08660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stone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#6E6C68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0" y="35204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4A4F5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086600" y="3502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rock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#4A4F58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0800" y="3977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FFB05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086600" y="3959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glow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#FFB05A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· BUILDINGS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Lv0 model of every building. Each one is renamed and re-dressed at age-up — the same entity, a new look.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 CELLS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capital; the biggest civic building. Never buildable. Walled keep around a hall.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44318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404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54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11246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111246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CELLS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654046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building with a warm lantern light. Becomes the King's Court / Town Hall.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31436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1164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98364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Barracks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198364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CELLS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4741164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standard building. Becomes the Garrison, War Hall or Route Guard.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18554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2828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15910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5482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/ Hut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85482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CELLS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828282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building. New house model carries the player colour. Lv1–3 art per culture.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24128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Gatherer's Hut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24128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CELLS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supply spot; shows a gather-circle readout. Becomes Guild / Raider Camp / Wagon.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544318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65404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05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111246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Wall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111246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LV0 WALL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2654046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logs on a timber sill, sharpened tops, walk-rail. Hubs: timber drums, conical shingle roof.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31436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41164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78130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98364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of Almiérra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198364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4741164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 thick-walled stone treasury: iron door, vent slits, buttresses, chest emblem.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18554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82828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2781300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85482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Shrine of Ridan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7285482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6828282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White-stone statue of a bearded man holding a large glowing crystal. Upgrades to the Temple.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24128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of Ridan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1024128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SEVEN-SIDED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566928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cultures in one: white slate, sandstone bands, iron pylons, glowing pinnacle, six chapel docks.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544318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65404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054" y="3971544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3111246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Fiendstone Keep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3111246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· 6×6</a:t>
            </a:r>
            <a:endParaRPr lang="en-US" sz="800" dirty="0"/>
          </a:p>
        </p:txBody>
      </p:sp>
      <p:sp>
        <p:nvSpPr>
          <p:cNvPr id="65" name="Text 52"/>
          <p:cNvSpPr txBox="1"/>
          <p:nvPr/>
        </p:nvSpPr>
        <p:spPr>
          <a:xfrm>
            <a:off x="2654046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Dark-stone bailey, four crenellated towers, ember-bolt ballista on the keep, brazier glow.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· UNITS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melee age. Authored materials; ownership reads from ring, bar and minimap, plus a little player-colour trim.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builder. Light civilian: tunic, tool belt, hammer or pick.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0024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349752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fast rider; unarmed until Armed Scouts. The Celestar reveal needs a 'perched' read.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22848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INFANTRY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6132576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Quilted gambeson, brimmed kettle helm, 2.4 m leaf-blade spear, round boss shield. Player colour on shield face, trim, pennon.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4436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Litharch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PRIEST-HEALER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Robed cleric with a 10 m heal beam. Gains a melee staff with Warrior Priests.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0024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49752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94436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06952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806952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ERA 2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349752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Hood, leather jerkin, bracers, recurve bow, quiver. Player colour on hood lining, tabard, fletching.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22848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0131F"/>
          </a:solidFill>
          <a:ln w="12700">
            <a:solidFill>
              <a:srgbClr val="353D57"/>
            </a:solidFill>
            <a:prstDash val="dash"/>
          </a:ln>
        </p:spPr>
      </p:sp>
      <p:sp>
        <p:nvSpPr>
          <p:cNvPr id="37" name="Shape 29"/>
          <p:cNvSpPr/>
          <p:nvPr/>
        </p:nvSpPr>
        <p:spPr>
          <a:xfrm>
            <a:off x="6132576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944368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9776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colour on units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132576" y="3319272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only — shield face, tabard, pennon, fletching. Never the whole body: silhouettes stay authored.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OVERALL THEME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Alanthor — the stoneworkers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European castles, Northgard's stronghold feel, Gondor without the white.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3716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Medieval European castle culture. Defensive: it denies movement.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482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limestone over dark foundations, dark iron and steel, occasional brass or gold trim.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Crenellations, arched doorways, iron straps, square footprints, heraldic banners; sword-and-shield insignia.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Arcane-machine: clockwork, runic inscriptions, cool white-blue glow.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Slate-brick roads tinted limestone on finished ground; terraced cliffs inside territory.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478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at every level above timber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colour on cloth and lanterns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a 64×64 minimap tile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10128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5478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21608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419856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or orange magic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anywhere outside the curse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marble on buildings (chapel statues only)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00800" y="1691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7370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086600" y="1673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#737068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0" y="21488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55555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086600" y="2130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#555550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0" y="26060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8CA68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86600" y="25877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banners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#8CA680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0" y="30632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B3E46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08660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roofs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#3B3E46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0" y="35204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086600" y="3502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trim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#B08D57   proposed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0" y="3977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CFE6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086600" y="3959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Runic glow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#CFE6FF   proposed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UNITS (1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Infantry, ranged &amp; ritualists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and Scout carry over from Age 0. Each line upgrades per battalion: L1 → L2 → L3.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INFANTRY L1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0 look, carried forward.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0024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Swordsman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INFANTRY L2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349752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under a surcoat, nasal helm, arming sword, small heater shield.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22848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Guard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INFANTRY L3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6132576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line infantry: full plate, sage tabard, gilt trim.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Nobleman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ALL-ROUNDER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knight: breastplate over tabard, longsword, heater shield, plumed helm.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0024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4975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06952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806952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SPONGE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349752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plate, tower shield, pollaxe.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22848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3257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9776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589776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 L1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6132576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Recurve bow; the Age 0 archer.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57200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24128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Crossbowman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1024128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 L2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566928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heavy bolt. Pavise on the back, kettle hat.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3240024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34975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760" y="3971544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806952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Longbowman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3806952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 L3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3349752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sniper: tall bow, light kit, long silhouette.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6022848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13257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584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6589776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 Scholar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6589776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RITUALIST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6132576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Unarmed; purifies curse wells. Robed sage with a runic tome or staff.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UNITS (2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Cavalry, siege &amp; specials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Outrider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CAVALRY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unarmoured horse, open helm, spear at rest; player-colour saddle cloth and pennant.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0024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Cataphract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CAVALRY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3349752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in overlapping caparison plates, chamfron, closed helm, lance, kite shield.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22848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Battering Ram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6132576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frame, plank canopy, iron-capped log slung on ropes.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 &amp; Ballista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24128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566928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Catapult: Synty model, lobbed stone. Ballista: flat bolt thrower (proposed).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40024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34975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7813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806952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Trebuchet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806952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3349752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A-frame, counterweight and sling; distinct packed and deployed poses.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22848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13257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781300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589776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Emplaced engines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589776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WALL DECKS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6132576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Ballista and Trebuchet fixed 2.9 m up on a wall; they never move.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457200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24128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1024128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 COURT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566928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automaton on a player-colour forcefield disc: cogwheel torso, four arms, crystal core.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3240024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334975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760" y="3971544"/>
            <a:ext cx="256032" cy="25603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3806952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Litharch</a:t>
            </a:r>
            <a:endParaRPr lang="en-US" sz="1200" dirty="0"/>
          </a:p>
        </p:txBody>
      </p:sp>
      <p:sp>
        <p:nvSpPr>
          <p:cNvPr id="51" name="Text 40"/>
          <p:cNvSpPr txBox="1"/>
          <p:nvPr/>
        </p:nvSpPr>
        <p:spPr>
          <a:xfrm>
            <a:off x="3806952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</a:t>
            </a:r>
            <a:endParaRPr lang="en-US" sz="800" dirty="0"/>
          </a:p>
        </p:txBody>
      </p:sp>
      <p:sp>
        <p:nvSpPr>
          <p:cNvPr id="52" name="Text 41"/>
          <p:cNvSpPr txBox="1"/>
          <p:nvPr/>
        </p:nvSpPr>
        <p:spPr>
          <a:xfrm>
            <a:off x="3349752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0 healer.</a:t>
            </a: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6022848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13257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584" y="3971544"/>
            <a:ext cx="256032" cy="256032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6589776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units</a:t>
            </a:r>
            <a:endParaRPr lang="en-US" sz="1200" dirty="0"/>
          </a:p>
        </p:txBody>
      </p:sp>
      <p:sp>
        <p:nvSpPr>
          <p:cNvPr id="57" name="Text 45"/>
          <p:cNvSpPr txBox="1"/>
          <p:nvPr/>
        </p:nvSpPr>
        <p:spPr>
          <a:xfrm>
            <a:off x="6589776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 UNITS</a:t>
            </a:r>
            <a:endParaRPr lang="en-US" sz="800" dirty="0"/>
          </a:p>
        </p:txBody>
      </p:sp>
      <p:sp>
        <p:nvSpPr>
          <p:cNvPr id="58" name="Text 46"/>
          <p:cNvSpPr txBox="1"/>
          <p:nvPr/>
        </p:nvSpPr>
        <p:spPr>
          <a:xfrm>
            <a:off x="6132576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 Keeper, Scar Guard, Stone Warden, Golem Autark. Limestone, sage, white-blue runes.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BUILDINGS (1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 &amp; military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buildings are the Age 0 entities, renamed and re-dressed — authored Lv1–3 variants where FBX exists.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 Court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HALL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KingsCourt_1–3 FBX. Global aura: building HP and repair.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44318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404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54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11246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Garrison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111246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BARRACKS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654046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Crenellated stone barracks with sage banners.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31436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1164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98364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198364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HUT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4741164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House_1–3 FBX.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18554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2828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15910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5482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85482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GATHERER'S HUT L1–3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828282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HP its research casts a Slow (later Stop) burst on nearby enemies.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24128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 Range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24128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 range with butts and targets.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544318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65404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05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111246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Stable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111246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2654046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timber hall, side paddock, one soft lantern; player colour on door banners.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31436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41164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78130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98364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Yard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198364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4741164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work-yard: gantry crane, half-built ram, bolt rack, grindstone, small ember forge.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18554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82828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2781300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85482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Smelter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7285482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· LIMIT 1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6828282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Tile-roofed forge hall, tall stack, two glowing furnace mouths, anvil, bellows.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24128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Crucible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1024128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VEILSTEEL · MAX 5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566928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Runic stone kiln with a cyan-white core.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544318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65404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054" y="3971544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3111246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Sawyer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3111246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OUTPUT</a:t>
            </a:r>
            <a:endParaRPr lang="en-US" sz="800" dirty="0"/>
          </a:p>
        </p:txBody>
      </p:sp>
      <p:sp>
        <p:nvSpPr>
          <p:cNvPr id="65" name="Text 52"/>
          <p:cNvSpPr txBox="1"/>
          <p:nvPr/>
        </p:nvSpPr>
        <p:spPr>
          <a:xfrm>
            <a:off x="2654046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sawmill on a stone base.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4631436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4741164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5172" y="3971544"/>
            <a:ext cx="256032" cy="256032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5198364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Tower</a:t>
            </a:r>
            <a:endParaRPr lang="en-US" sz="1100" dirty="0"/>
          </a:p>
        </p:txBody>
      </p:sp>
      <p:sp>
        <p:nvSpPr>
          <p:cNvPr id="70" name="Text 56"/>
          <p:cNvSpPr txBox="1"/>
          <p:nvPr/>
        </p:nvSpPr>
        <p:spPr>
          <a:xfrm>
            <a:off x="5198364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SILHOUETTE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4741164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Tapered stone shaft, corbelled crown, arrow slits, glowing brazier, banner.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718554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682828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2290" y="3971544"/>
            <a:ext cx="256032" cy="256032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285482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buildings</a:t>
            </a:r>
            <a:endParaRPr lang="en-US" sz="1100" dirty="0"/>
          </a:p>
        </p:txBody>
      </p:sp>
      <p:sp>
        <p:nvSpPr>
          <p:cNvPr id="76" name="Text 61"/>
          <p:cNvSpPr txBox="1"/>
          <p:nvPr/>
        </p:nvSpPr>
        <p:spPr>
          <a:xfrm>
            <a:off x="7285482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SECTS</a:t>
            </a:r>
            <a:endParaRPr lang="en-US" sz="800" dirty="0"/>
          </a:p>
        </p:txBody>
      </p:sp>
      <p:sp>
        <p:nvSpPr>
          <p:cNvPr id="77" name="Text 62"/>
          <p:cNvSpPr txBox="1"/>
          <p:nvPr/>
        </p:nvSpPr>
        <p:spPr>
          <a:xfrm>
            <a:off x="6828282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Reliquary (vaulted archive), Mending Hall (infirmary), Stonehold (blockhouse), Veilworks.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BUILDINGS (2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 ladder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hub-and-segment system. A wall level re-clads every wall the faction owns at once.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Lv0 · Wooden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CULTURE, AGE 0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Split-log palisade on a timber sill; ownership posts carry the player colour.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0024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Lv1 · Stone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THE ALANTHOR PICK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349752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Rough-coursed limestone, coping, merlon crown.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22848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Lv2 · Battlemented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HUB RESEARCH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6132576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merlons, arrow loops, timber hoardings.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Lv3 · Shielded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HUB RESEARCH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coping band; one large metal shield per module; manned shield positions.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0024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4975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06952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Hub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806952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CELLS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349752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tower, domed in stone (shingle when timber); small, never dominates the curtain.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22848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3257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9776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Gate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589776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· 9 M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6132576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gatehouse; two leaves swing open over 1.2 s; flanks are solid masonry.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57200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24128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Tower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1024128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MODULE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566928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levels only. Taller, with ranged fire.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3240024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34975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760" y="3971544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806952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3806952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BALLISTA · TREBUCHET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3349752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Corbelled plank deck, pavise mantlet, pintle ring; trebuchet adds a revetment.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6022848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13257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584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6589776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Chapels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6589776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MARBLE STATUES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6132576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Renewal: robed man with a crystal-blue cup. Antiquity: bearded scholar with a stone tablet.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HEROES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Lexor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1–10 earned from kills only. On death: Rally the Oath (lower level) or Full Honours (same level, costlier).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3017520" cy="3291840"/>
          </a:xfrm>
          <a:prstGeom prst="roundRect">
            <a:avLst>
              <a:gd name="adj" fmla="val 181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1645920"/>
            <a:ext cx="1188720" cy="1188720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9718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950" b="1" spc="2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</a:t>
            </a:r>
            <a:endParaRPr lang="en-US" sz="9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1.15×. Black destrier in gilded barding, brass-trimmed plate, crown spikes on the helm. Crimson cape lined in the player colour; a tall back banner with an emissive finial — his only glow.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1463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 &amp; VISUAL CUES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49040" y="181965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A9C49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33088" y="17556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 Call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687568" y="175564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15 m aura: attack, armour, charge bonus. Faint sage-and-gold ground ring.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236829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F2E3B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33088" y="230428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Courage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687568" y="230428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of 90% damage reduction. Gold-white shimmer shell.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749040" y="291693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5FD8E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133088" y="28529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Veilshift Withdrawal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687568" y="285292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Aftermath: slowed, bleeding HP. Draining cyan wisps; Life Cling holds 1 HP.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49040" y="346557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DCE6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133088" y="340156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thy Pledge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687568" y="34015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4+: sworn Swordsmen and Archers in a 6 m ring. Spectral oath-light.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49040" y="401421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B08D57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33088" y="395020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687568" y="395020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 change yet. Crown or banner flourish.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749040" y="456285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A8F4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133088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Shardbound King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687568" y="449884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the Shardroot: Fury hurls enemies 4–10 m. Dies → veilstone crater.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9C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SPECIAL EFFECTS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 white-blue, runic, clockwork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is measured and mechanical — cogs turn, banners sway, gates swing. Nothing explodes that isn't siege.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1790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DCEF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48132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8132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ritual at a well: a tall translucent cyan-white beam, visible to every player.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" y="186480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3795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E8C06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190138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Facility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90138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Ledger: golden rising-spark aura for 30 s, larger burst on cast, then 'Under Automation'.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77824" y="228485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35800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CFE6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32143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ward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32143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Orbiting arcane wind-up, looping ground aura, slow trail on enemies. RECOLOUR: ships purple today.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77824" y="270491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77806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B08D57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274148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Horn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274148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cavalry within 20 m: next charge +50%. Brass-horn shockwave ring.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7824" y="3124962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9811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C9B79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16153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Gallop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316153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 speed burst: dust streaks, streaming pennants.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77824" y="354501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61816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FFFF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358159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Choreographed Volleys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358159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ranged fire twice as fast: synchronised white arrow flashes.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7824" y="396506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3821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8CA68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00164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powers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560320" y="400164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circles at the fixed radii (8 / 15 / 25 m): Stoneveil, Bulwark, Immovable, Raise Anew, Second Wind…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7824" y="438512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45827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6E6C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442169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feedback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2560320" y="442169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while building; rise in numbered parts; inward collapse; level-up flourish at age-up.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OVERALL THEME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Runai — the lane-walkers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Persian and Moroccan architecture, Prince of Persia: Sands of Time, Sands of Salzaar. Runai hexes are not locked yet.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3716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Desert nomad master-traders. Economy, army and territory are one thing: the trade lane.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482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Tents, palace-and-tent kit, horseshoe arches, copper domes, lattice-shaded windows.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silhouettes, fluttering fabric and awnings, caravan wagons, lanes and roads. No walls.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Light-blue and flowing, like water: ribbons, ripples, droplets, slow sinuous motion.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Sandstone paving on finished ground; sand drift #B59A6B. Forests they pacify go Stilled.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478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everything packable: wheels, poles, canvas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player colour on tent cloth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is copper and gold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10128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5478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21608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419856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Walls, palisades or any fortification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warmth (reads as Feraldis fire)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in Runai magic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00800" y="1691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C9A87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086600" y="1673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Sandstone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#C9A878   proposed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0" y="21488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B06A3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086600" y="2130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#B06A3B   proposed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0" y="26060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4FA89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86600" y="25877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Verdigris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#4FA89A   proposed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0" y="30632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2E2A6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08660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indigo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#2E2A6B   proposed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0" y="35204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D9A44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086600" y="3502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gold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#D9A441   proposed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0" y="3977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B59A6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086600" y="3959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drift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#B59A6B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UNITS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looks are documented beyond roles — everything here is proposed within the locked Runai style.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&amp; Scout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robes, head-wrap, tool satchel. Scout: lean rider, flowing scarf, spyglass.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44318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404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54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11246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line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111246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INFANTRY L1–L3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654046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spear, indigo tabard, round buckler → gold-trim lancer → palace guard in scale.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31436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1164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98364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Skirmisher line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198364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 L1–L3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4741164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Kiting recurve archer in loose robes; heavier composite bows and gold hoods up the line.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18554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2828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15910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5482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Raider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85482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CAVALRY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828282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horse, trailing scarves and banners.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24128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 Archer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24128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 L2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bow, turning in the saddle.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544318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65404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05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111246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 apex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111246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 L3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2654046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or heavy horse in lamellar barding.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31436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41164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78130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98364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Caravan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198364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UNCONTROLLABLE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4741164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wagon that flees on damage. Canopied wagon with a pack beast.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18554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82828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2781300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85482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guards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7285482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UNCONTROLLABLE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6828282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Escort: lighter spearman. Trader-Warrior: merchant-soldier with a cargo pack.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24128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Age-up Wagon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1024128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GATHERER'S HUT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566928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hut's canvas folded onto wheels; plants a Trade Post when it arrives.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544318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65404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054" y="3971544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3111246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3111246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65" name="Text 52"/>
          <p:cNvSpPr txBox="1"/>
          <p:nvPr/>
        </p:nvSpPr>
        <p:spPr>
          <a:xfrm>
            <a:off x="2654046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Copper-bound timber; sand-and-stone payload bursting on impact.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4631436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4741164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5172" y="3971544"/>
            <a:ext cx="256032" cy="256032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5198364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Acolyte</a:t>
            </a:r>
            <a:endParaRPr lang="en-US" sz="1100" dirty="0"/>
          </a:p>
        </p:txBody>
      </p:sp>
      <p:sp>
        <p:nvSpPr>
          <p:cNvPr id="70" name="Text 56"/>
          <p:cNvSpPr txBox="1"/>
          <p:nvPr/>
        </p:nvSpPr>
        <p:spPr>
          <a:xfrm>
            <a:off x="5198364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RITUALIST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4741164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unarmed; channels Pacify. Veiled robed channeller with water-light hands.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718554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682828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2290" y="3971544"/>
            <a:ext cx="256032" cy="256032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285482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Litharch</a:t>
            </a:r>
            <a:endParaRPr lang="en-US" sz="1100" dirty="0"/>
          </a:p>
        </p:txBody>
      </p:sp>
      <p:sp>
        <p:nvSpPr>
          <p:cNvPr id="76" name="Text 61"/>
          <p:cNvSpPr txBox="1"/>
          <p:nvPr/>
        </p:nvSpPr>
        <p:spPr>
          <a:xfrm>
            <a:off x="7285482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</a:t>
            </a:r>
            <a:endParaRPr lang="en-US" sz="800" dirty="0"/>
          </a:p>
        </p:txBody>
      </p:sp>
      <p:sp>
        <p:nvSpPr>
          <p:cNvPr id="77" name="Text 62"/>
          <p:cNvSpPr txBox="1"/>
          <p:nvPr/>
        </p:nvSpPr>
        <p:spPr>
          <a:xfrm>
            <a:off x="6828282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healer (Runai heals +30%) in Runai cloth.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BUILDINGS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Tents and pavilions that look as if they could be struck and moved by morning.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Trader's Hall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HALL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palace-tent: central copper dome, gold finials, lantern arcades.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44318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404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54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11246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111246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BARRACKS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654046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Wall-less guard caravanserai; spear racks under awnings.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31436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1164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98364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Arrowyard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198364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4741164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sand yard, target posts, shaded lattice pavilion.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18554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2828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15910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5482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 Grounds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85482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828282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Fenceless paddock, feed troughs, striped horse tents.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24128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Thessara's Bazaar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24128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RESEARCH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dome, stalls, hanging carpets. Trains nothing.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544318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65404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05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111246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Outpost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111246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ANCHOR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2654046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slim beacon mast with a cyan lantern; vision pylon.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31436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41164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78130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98364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Hub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198364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CARAVAN SPAWNER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4741164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Caravanserai courtyard, wagon gate, loading docks.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18554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82828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2781300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85482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Veilsteel Foundry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7285482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VEILSTEEL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6828282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kilns with cyan-glowing crucible vents.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24128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Workshop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1024128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566928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timber frame under canvas.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544318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65404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054" y="3971544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3111246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3111246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PACIFY STRUCTURE</a:t>
            </a:r>
            <a:endParaRPr lang="en-US" sz="800" dirty="0"/>
          </a:p>
        </p:txBody>
      </p:sp>
      <p:sp>
        <p:nvSpPr>
          <p:cNvPr id="65" name="Text 52"/>
          <p:cNvSpPr txBox="1"/>
          <p:nvPr/>
        </p:nvSpPr>
        <p:spPr>
          <a:xfrm>
            <a:off x="2654046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Cyan-lit stake and anchor ring chaining the purple well.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4631436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4741164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5172" y="3971544"/>
            <a:ext cx="256032" cy="256032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5198364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buildings</a:t>
            </a:r>
            <a:endParaRPr lang="en-US" sz="1100" dirty="0"/>
          </a:p>
        </p:txBody>
      </p:sp>
      <p:sp>
        <p:nvSpPr>
          <p:cNvPr id="70" name="Text 56"/>
          <p:cNvSpPr txBox="1"/>
          <p:nvPr/>
        </p:nvSpPr>
        <p:spPr>
          <a:xfrm>
            <a:off x="5198364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SHRINE · KEEP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4741164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models; a Runai reskin is optional.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718554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0131F"/>
          </a:solidFill>
          <a:ln w="12700">
            <a:solidFill>
              <a:srgbClr val="353D57"/>
            </a:solidFill>
            <a:prstDash val="dash"/>
          </a:ln>
        </p:spPr>
      </p:sp>
      <p:sp>
        <p:nvSpPr>
          <p:cNvPr id="73" name="Shape 59"/>
          <p:cNvSpPr/>
          <p:nvPr/>
        </p:nvSpPr>
        <p:spPr>
          <a:xfrm>
            <a:off x="682828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2290" y="3971544"/>
            <a:ext cx="256032" cy="256032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285482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built</a:t>
            </a:r>
            <a:endParaRPr lang="en-US" sz="1100" dirty="0"/>
          </a:p>
        </p:txBody>
      </p:sp>
      <p:sp>
        <p:nvSpPr>
          <p:cNvPr id="76" name="Text 61"/>
          <p:cNvSpPr txBox="1"/>
          <p:nvPr/>
        </p:nvSpPr>
        <p:spPr>
          <a:xfrm>
            <a:off x="6828282" y="4346448"/>
            <a:ext cx="1748790" cy="46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House, no Walls, no Towers. The absence IS the identity.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HEROES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Shardbound Seer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Awakened when the Shardroot is stored at the Hall. Name, levels and kit are not yet designed.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3017520" cy="3291840"/>
          </a:xfrm>
          <a:prstGeom prst="roundRect">
            <a:avLst>
              <a:gd name="adj" fmla="val 181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1645920"/>
            <a:ext cx="1188720" cy="1188720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9718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9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</a:t>
            </a:r>
            <a:endParaRPr lang="en-US" sz="9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veiled seer in indigo and gold. A shard hovers at the chest; cyan water-light ribbons orbit. Mobility and economy caster with curse-sight.</a:t>
            </a:r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1463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 &amp; VISUAL CUES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49040" y="181965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8FD3F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33088" y="17556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Curse-sight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687568" y="175564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cyan ripple wave that reveals the area.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236829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D9A44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33088" y="230428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Surge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687568" y="230428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light along a trade lane, amplifying it.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749040" y="291693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BFE9F5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133088" y="28529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Mirage Step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687568" y="285292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water-shimmer teleport.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49040" y="346557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A8F4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133088" y="340156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687568" y="34015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volatile: a veilstone blast; the Shardroot drops in the crater.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SPECIAL EFFECTS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Water-light that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is continuous and sinuous — never explosive. The opposite of Feraldis bursts.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1790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D9A44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48132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lanes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8132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lane is the readout: a glowing cyan-and-gold dotted route with caravans on it.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" y="186480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3795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F2C766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190138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zone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90138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enters a lane's zone: ring flashes gold, audio cue, minimap ping.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77824" y="228485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35800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E8C06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32143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Wagon wake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32143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sparkle trail behind an age-up wagon, fading over 4 min.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77824" y="270491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77806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D9A44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274148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boost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274148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gold coin shimmer on the Hub after a caravan drop-off.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7824" y="3124962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9811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8FD3F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16153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Pacify ritual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316153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water-streams wind around a purple well, calming its spires; the Tether locks on.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77824" y="354501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61816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BFE9F5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358159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358159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 heat-shimmer on Runai units inside their ground (stealth and speed).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7824" y="396506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3821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B59A6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00164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Stilled nature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560320" y="400164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drifts into the forest: still, pale, no particles at all.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7824" y="438512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45827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4FA89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442169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Sects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2560320" y="442169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Silence, Justice, Veneration, Witness: hush seals, telegraph beams, choir resonance, a mirrored Glass Spire.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OVERALL THEME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Feraldis — fire and blood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Norse myth, Northgard's Wolf clan, Hellblade, Total War: Attila's Saxons.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3716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5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Celtic, Viking, underdark warband. It does not fear the curse; it wants to taint it further.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482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dark stone, obsidian veining, bone-on-spike embellishments, dark angular roofs.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silhouettes, runestones, raider-pyres, totems, blood pools. Inhospitable.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blood-red and eldritch: thick drips, veins, pulsing, sudden violent bursts.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flagstone paving; destroyed forests go Ashen — charred, and the only ones you can walk through.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478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and fire as the whole vocabulary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Jagged, angular silhouettes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colour on crimson-slot cloth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10128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5478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21608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419856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or frost — Feraldis taints, never freezes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 and curves (that's Runai)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tinted toward curse purple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400800" y="1691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9E2A2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086600" y="1673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#9E2A2B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0" y="21488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A3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086600" y="2130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#3A3A3A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0" y="26060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5C3A2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86600" y="25877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Weathered wood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#5C3A21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0" y="30632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15121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08660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#15121A   proposed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0" y="35204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6B0F1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086600" y="3502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#6B0F14   proposed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0" y="3977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FF6A2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086600" y="3959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#FF6A2A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UNITS (1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Infantry &amp; ranged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either spills blood or spends it.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BUILDER, REAL FIGHTER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Axe-hand in fur and leather.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0024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349752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sight plus a circling eagle with its own wide vision; the eagle visibly orbits.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22848" y="1417320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6132576" y="2020824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Bare-armed, round shield, crimson war paint.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Bloodletter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WHIRLING AOE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Fast; inflicts Bleeding. Twin hooked blades, a spinning red arc.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0024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4975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06952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Berserker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806952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FRENZY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349752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Bare-chested, huge axe; glows red while locked at 1 HP for a 5 s rampage.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22848" y="2607564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3257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9776" y="2699004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Pyrebearer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589776" y="3009900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NAME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6132576" y="3211068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Tanky runner that bursts into a big blood pool. Armoured front, strapped blood casks.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57200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24128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1024128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566928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Shorter-ranged bow; rough hide armour.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3240024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334975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760" y="3971544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3806952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Thrower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3806952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POINT-BLANK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3349752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axes that Bleed; axe bandolier.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6022848" y="3797808"/>
            <a:ext cx="2663952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13257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584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6589776" y="3889248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Firethrower</a:t>
            </a:r>
            <a:endParaRPr lang="en-US" sz="1200" dirty="0"/>
          </a:p>
        </p:txBody>
      </p:sp>
      <p:sp>
        <p:nvSpPr>
          <p:cNvPr id="58" name="Text 46"/>
          <p:cNvSpPr txBox="1"/>
          <p:nvPr/>
        </p:nvSpPr>
        <p:spPr>
          <a:xfrm>
            <a:off x="6589776" y="4200144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IGNITES BLOOD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6132576" y="4401312"/>
            <a:ext cx="244449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Hurls a small fireball (Synty FX_CatapultShot, scaled down).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UNITS (2 OF 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Cavalry, siege &amp; specials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Raider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CAVALRY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torch-bearer that sets buildings burning for 8 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0024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Chariot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CAVALRY · 2 POP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3349752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Scythed wheels, blood-stained bed; drags a blood trail.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22848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Plunderer &amp; House Raider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UNCONTROLLABLE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6132576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Ragged sack-carrying thieves from the Raider Camp and Houses; 2 s berserk on death.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4436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Ram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24128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HIGHEST-HP SIEGE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566928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Roofed ram with an iron fiend-head.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40024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349752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94436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806952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Corruptor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806952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RITUALIST · 4 POP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3349752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Unarmed, very tanky; channels 40 s to crack a well. Chained, obsidian-plated.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22848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0131F"/>
          </a:solidFill>
          <a:ln w="12700">
            <a:solidFill>
              <a:srgbClr val="353D57"/>
            </a:solidFill>
            <a:prstDash val="dash"/>
          </a:ln>
        </p:spPr>
      </p:sp>
      <p:sp>
        <p:nvSpPr>
          <p:cNvPr id="36" name="Shape 28"/>
          <p:cNvSpPr/>
          <p:nvPr/>
        </p:nvSpPr>
        <p:spPr>
          <a:xfrm>
            <a:off x="6132576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944368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589776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design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132576" y="3319272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Retired: Warboar Rider, Swordsman, Royal Guard. The Litharch is shared (heals 30% weaker).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BUILDINGS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and dark stone, jagged and inhospitable. Houses are war lodges, not homes.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Warrior's Hall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HALL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mead-hall, dragon-prow gables, crimson banners, pyres.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44318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404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54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11246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Hall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111246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CULTURED BARRACKS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654046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longhouse with weapon racks and trophy skulls.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31436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1164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98364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of Axes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198364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RANGED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4741164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Chopping-block yard, axe-scarred posts, fire pit.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718554" y="1417320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2828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15910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5482" y="1508760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85482" y="1819656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RAIDER SPAWN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828282" y="2020824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Spiked palisade-roof war lodge. Gives no population.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66928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27813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24128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Raider Camp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24128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GATHERER'S HUT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566928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Tents, spoils heaps, bone totems.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544318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2654046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054" y="278130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111246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Totem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3111246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BLOOD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2654046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post whose veins fill red as it drinks blood.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31436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41164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172" y="278130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198364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Totem Tower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5198364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TOWER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4741164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angular runestone watchtower; buffed on bloody ground.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6718554" y="2607564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828282" y="2717292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2290" y="2781300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285482" y="2699004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Pasture</a:t>
            </a:r>
            <a:endParaRPr lang="en-US" sz="1100" dirty="0"/>
          </a:p>
        </p:txBody>
      </p:sp>
      <p:sp>
        <p:nvSpPr>
          <p:cNvPr id="52" name="Text 41"/>
          <p:cNvSpPr txBox="1"/>
          <p:nvPr/>
        </p:nvSpPr>
        <p:spPr>
          <a:xfrm>
            <a:off x="7285482" y="3009900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CAVALRY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6828282" y="3211068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stockade pen and chariot shed.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457200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66928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397154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24128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100" dirty="0"/>
          </a:p>
        </p:txBody>
      </p:sp>
      <p:sp>
        <p:nvSpPr>
          <p:cNvPr id="58" name="Text 46"/>
          <p:cNvSpPr txBox="1"/>
          <p:nvPr/>
        </p:nvSpPr>
        <p:spPr>
          <a:xfrm>
            <a:off x="1024128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WORKERLESS</a:t>
            </a:r>
            <a:endParaRPr lang="en-US" sz="800" dirty="0"/>
          </a:p>
        </p:txBody>
      </p:sp>
      <p:sp>
        <p:nvSpPr>
          <p:cNvPr id="59" name="Text 47"/>
          <p:cNvSpPr txBox="1"/>
          <p:nvPr/>
        </p:nvSpPr>
        <p:spPr>
          <a:xfrm>
            <a:off x="566928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headframe over a pit, cart rails.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544318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654046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054" y="3971544"/>
            <a:ext cx="256032" cy="256032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3111246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Fiend Foundry</a:t>
            </a:r>
            <a:endParaRPr lang="en-US" sz="1100" dirty="0"/>
          </a:p>
        </p:txBody>
      </p:sp>
      <p:sp>
        <p:nvSpPr>
          <p:cNvPr id="64" name="Text 51"/>
          <p:cNvSpPr txBox="1"/>
          <p:nvPr/>
        </p:nvSpPr>
        <p:spPr>
          <a:xfrm>
            <a:off x="3111246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VEILSTEEL</a:t>
            </a:r>
            <a:endParaRPr lang="en-US" sz="800" dirty="0"/>
          </a:p>
        </p:txBody>
      </p:sp>
      <p:sp>
        <p:nvSpPr>
          <p:cNvPr id="65" name="Text 52"/>
          <p:cNvSpPr txBox="1"/>
          <p:nvPr/>
        </p:nvSpPr>
        <p:spPr>
          <a:xfrm>
            <a:off x="2654046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forge, lava-red vents; the Veilsteel Forge matches.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4631436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4741164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5172" y="3971544"/>
            <a:ext cx="256032" cy="256032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5198364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Yard</a:t>
            </a:r>
            <a:endParaRPr lang="en-US" sz="1100" dirty="0"/>
          </a:p>
        </p:txBody>
      </p:sp>
      <p:sp>
        <p:nvSpPr>
          <p:cNvPr id="70" name="Text 56"/>
          <p:cNvSpPr txBox="1"/>
          <p:nvPr/>
        </p:nvSpPr>
        <p:spPr>
          <a:xfrm>
            <a:off x="5198364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 RAM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4741164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timber scaffolds with a ram under construction.</a:t>
            </a:r>
            <a:pPr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6718554" y="3797808"/>
            <a:ext cx="1968246" cy="1071372"/>
          </a:xfrm>
          <a:prstGeom prst="roundRect">
            <a:avLst>
              <a:gd name="adj" fmla="val 51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6828282" y="3907536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2290" y="3971544"/>
            <a:ext cx="256032" cy="256032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285482" y="3889248"/>
            <a:ext cx="1309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Fiendstone Keep</a:t>
            </a:r>
            <a:endParaRPr lang="en-US" sz="1100" dirty="0"/>
          </a:p>
        </p:txBody>
      </p:sp>
      <p:sp>
        <p:nvSpPr>
          <p:cNvPr id="76" name="Text 61"/>
          <p:cNvSpPr txBox="1"/>
          <p:nvPr/>
        </p:nvSpPr>
        <p:spPr>
          <a:xfrm>
            <a:off x="7285482" y="4200144"/>
            <a:ext cx="1309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CHOICE</a:t>
            </a:r>
            <a:endParaRPr lang="en-US" sz="800" dirty="0"/>
          </a:p>
        </p:txBody>
      </p:sp>
      <p:sp>
        <p:nvSpPr>
          <p:cNvPr id="77" name="Text 62"/>
          <p:cNvSpPr txBox="1"/>
          <p:nvPr/>
        </p:nvSpPr>
        <p:spPr>
          <a:xfrm>
            <a:off x="6828282" y="4401312"/>
            <a:ext cx="174879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for everyone; Feraldis only gains +50% HP.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HEROES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Shardbound Warlord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Awakened when the Shardroot is stored at the Hall. Name, levels and kit are not yet designed.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3017520" cy="3291840"/>
          </a:xfrm>
          <a:prstGeom prst="roundRect">
            <a:avLst>
              <a:gd name="adj" fmla="val 1818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1645920"/>
            <a:ext cx="1188720" cy="1188720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9718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950" b="1" spc="2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</a:t>
            </a:r>
            <a:endParaRPr lang="en-US" sz="9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Towering horned warlord. Obsidian plate cracked with a crimson glow; the shard embedded in his axe-haft. A melee juggernaut with shard-burst magic.</a:t>
            </a:r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1463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 &amp; VISUAL CUES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49040" y="181965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6B0F1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133088" y="17556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Shard-Burst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687568" y="175564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nova shockwave.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49040" y="236829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9E2A2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33088" y="230428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Bloodtide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687568" y="230428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slam that splashes a blood pool, feeding frenzy.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749040" y="291693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D9504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133088" y="28529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Warcry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687568" y="285292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 aura; nearby units frenzy.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49040" y="3465576"/>
            <a:ext cx="274320" cy="384048"/>
          </a:xfrm>
          <a:prstGeom prst="roundRect">
            <a:avLst>
              <a:gd name="adj" fmla="val 13333"/>
            </a:avLst>
          </a:prstGeom>
          <a:solidFill>
            <a:srgbClr val="A8F4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133088" y="340156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687568" y="34015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blast; the artifact drops in the crater.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SPECIAL EFFECTS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Sudden bursts, rings and blood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decals are glossy; everything else stays matte. Fire has no owner and burns everyone.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1790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6B0F1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48132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pools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8132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glossy decals: Bleeding drips, chariot trails, the Pyrebearer's big pool.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" y="186480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3795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D9504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190138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Frenzy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90138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blood: red rim-light and swirling crimson motes.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77824" y="228485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35800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FF3B2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32143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Frenzy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32143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red silhouette and a blood haze, then collapse.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77824" y="270491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77806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9E2A2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274148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Totem drinking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274148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flows inward along the ground; veins fill; faint red dome. Dry: cracks and falls.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7824" y="3124962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9811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FF6A2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16153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316153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plumes, smoke, ember cracks ×3 flickering. Spreads slowly to 4 neighbours: blobs, not stars.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77824" y="354501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61816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2A0A0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358159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ignition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358159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touching blood lights ALL blood map-wide: red-black detonations with fast shockwave rings.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7824" y="396506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3821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8E5CF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00164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Warpath &amp; Corruptor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560320" y="400164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crumbles to embers; red veins invade purple spires, then the well collapses over ~25 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7824" y="438512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45827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5C3A21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442169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Sects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2560320" y="442169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War, Ash, Ruin, Wrath: Blood Rain, Pyre, Cinderfall, Ashen Veil smoke, Wrathfire pillar, chains.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· OVERALL THEME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— the world turning to veilstone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7160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sickness that erupts from the ground, not an army. Purple ground IS the scoreboard.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48256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law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is the curse; cyan is veilstone. Never on one object — the veil is the only exception.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grey-violet, emissive purple cracks, glassy (smoothness 0.6). Walkable but hostile.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brightest thing on a dusk map. The hold ring is the brightest line of all.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a readout: crust = blighted, bones only inside crust, green pool = a pocket.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5478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hold ring the brightest line on screen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curse decoration mean something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glow in the shader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10128" y="3438144"/>
            <a:ext cx="2724912" cy="1335024"/>
          </a:xfrm>
          <a:prstGeom prst="roundRect">
            <a:avLst>
              <a:gd name="adj" fmla="val 4110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547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21608" y="35295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3419856" y="3840480"/>
            <a:ext cx="2523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purple border line (the veil is the border)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curse 'icy cyan'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Script-driven crystal flicker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00800" y="1691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4B3A63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086600" y="1673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#4B3A63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0" y="21488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8E5CF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086600" y="2130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pole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#8E5CF0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0" y="26060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B14B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086600" y="25877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crystal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#B14BFF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0" y="30632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7FCB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08660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pole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#7FCB3A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0" y="35204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FF3AD6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086600" y="35021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ring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#FF3AD6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0800" y="397764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5FD8E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086600" y="39593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#5FD8E8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· OBJECTS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grows on cursed ground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NODE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purple spires ×4 on a crust disc over a cyan seam; mist at the base; ring of bones.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0024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NODE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3349752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purple buds around a green pool (×2), thin mist puff. Killable; ground reverts.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22848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ground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6132576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Grey-violet, normal-mapped cracks, purple emissive cracks only. No building; fire can't burn it.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4436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veil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24128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BORDER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566928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double arch (1.1 m half-width, 3.2 m tall), drifting curtains, rising dark cyan and purple wisps.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40024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349752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94436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806952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ring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806952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 VERB RUNS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3349752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#FF3AD6 ×5 ring with crackle and sparks — the clock the match runs on.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22848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132576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944368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589776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589776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CRUST ONLY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6132576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Synty SM_Deadbody_Pile_01/02 and SM_Dead_Guard_* at wells and pockets.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· CREATURES &amp; THE SHARDROOT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out of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Creatures erupt from wells, pockets, blood on crust and failed rites. All purple crystal, never cyan.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Crystalling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024128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Hound-sized beast covered in shards; comes in packs.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40024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Veilstinger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806952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TIER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349752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crystal-limbed stalker with a stinger tail.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22848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Godsplinter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589776" y="1819656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 · MAGIC SIEGE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6132576" y="2020824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Hulking crystal colossus with a glowing purple core.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4436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24128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Shardroot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24128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#A8F4FF ×6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gem, the brightest emissive there is. Floats inside its well; carrier gets a gold minimap blip.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40024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49752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94436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806952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Shardbound Heroes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3806952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CULTURE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3349752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gear with cyan shard growths and a cyan aura. Lexor · Seer · Warlord.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22848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132576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944368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9776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blast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589776" y="3172968"/>
            <a:ext cx="2005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DEATH · FURY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6132576" y="3374136"/>
            <a:ext cx="244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Cyan-white burst hurling enemies 4–10 m, leaving a crater.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· EFFECTS &amp; STATES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Verbs, holds and backlash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culture has one verb on a well. A verb opens a 10-minute hold.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1790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9E2A2B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48132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· Feraldis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8132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Spires shatter; purple drains to grey; crust collapses over ~25 s into rubble.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77824" y="186480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3795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8FD3F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190138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Pacify · Runai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90138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dim and go still; a light-blue tether beam links well and Tether.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77824" y="228485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35800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DCEF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32143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Purify · Alanthor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32143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Sanctified Font with white-blue runic glow; a clean 26 m circle burns off crust.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77824" y="270491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77806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FF3AD6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274148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274148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ring lit with sparks; channelling VFX on the ritualist.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77824" y="3124962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98114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6E6C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161538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3161538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disappears, the territory line takes over; crust recedes and decays.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77824" y="3545015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618167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B14BFF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3581591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Backlash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3581591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rite: spires flare to peak purple and pulse; five creature waves.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7824" y="3965067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038219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4B3A63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4001643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recede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2560320" y="4001643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 creeps cell by cell (brief flash telegraph); pulls back leaving cyan veilstone nodes.</a:t>
            </a:r>
            <a:pPr indent="0" marL="0">
              <a:buNone/>
            </a:pPr>
            <a:r>
              <a:rPr lang="en-US" sz="9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7824" y="4385120"/>
            <a:ext cx="780897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458272"/>
            <a:ext cx="310896" cy="273749"/>
          </a:xfrm>
          <a:prstGeom prst="roundRect">
            <a:avLst>
              <a:gd name="adj" fmla="val 13361"/>
            </a:avLst>
          </a:prstGeom>
          <a:solidFill>
            <a:srgbClr val="6B0F14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4421696"/>
            <a:ext cx="160020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on crust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2560320" y="4421696"/>
            <a:ext cx="6126480" cy="36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Eternal blood pools on cursed ground birth creatures, consuming the pool.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· REGIONS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Forests are the territory readout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Impassable forests change look with their owner. Maps are authored once in the mint Wild state; analogues swap in per owner.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81328"/>
            <a:ext cx="1558138" cy="2487168"/>
          </a:xfrm>
          <a:prstGeom prst="roundRect">
            <a:avLst>
              <a:gd name="adj" fmla="val 35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1627632"/>
            <a:ext cx="566928" cy="566928"/>
          </a:xfrm>
          <a:prstGeom prst="ellipse">
            <a:avLst/>
          </a:prstGeom>
          <a:solidFill>
            <a:srgbClr val="3F5A3A"/>
          </a:solidFill>
          <a:ln w="9525">
            <a:solidFill>
              <a:srgbClr val="353D5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7" y="1746504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26771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532888"/>
            <a:ext cx="137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798064"/>
            <a:ext cx="133868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Temperate woodland, mixed canopy, undergrowth; faint green fungi (×1.5). All of Age 0; unexplored fog.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125066" y="1481328"/>
            <a:ext cx="1558138" cy="2487168"/>
          </a:xfrm>
          <a:prstGeom prst="roundRect">
            <a:avLst>
              <a:gd name="adj" fmla="val 35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20670" y="1627632"/>
            <a:ext cx="566928" cy="566928"/>
          </a:xfrm>
          <a:prstGeom prst="ellipse">
            <a:avLst/>
          </a:prstGeom>
          <a:solidFill>
            <a:srgbClr val="8E5CF0"/>
          </a:solidFill>
          <a:ln w="9525">
            <a:solidFill>
              <a:srgbClr val="353D5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542" y="174650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16506" y="226771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Blighted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216506" y="2532888"/>
            <a:ext cx="137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2234794" y="2798064"/>
            <a:ext cx="133868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 crystal climbs the trunks; greyed translucent canopy; crust, buds and bones at the roots.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92931" y="1481328"/>
            <a:ext cx="1558138" cy="2487168"/>
          </a:xfrm>
          <a:prstGeom prst="roundRect">
            <a:avLst>
              <a:gd name="adj" fmla="val 35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88536" y="1627632"/>
            <a:ext cx="566928" cy="566928"/>
          </a:xfrm>
          <a:prstGeom prst="ellipse">
            <a:avLst/>
          </a:prstGeom>
          <a:solidFill>
            <a:srgbClr val="8CA680"/>
          </a:solidFill>
          <a:ln w="9525">
            <a:solidFill>
              <a:srgbClr val="353D5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74650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884371" y="226771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Cultivated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3884371" y="2532888"/>
            <a:ext cx="137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· PURIFY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3902659" y="2798064"/>
            <a:ext cx="133868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Blossom and fruit, cleared undergrowth, ordered spacing, stone markers at the edge.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60797" y="1481328"/>
            <a:ext cx="1558138" cy="2487168"/>
          </a:xfrm>
          <a:prstGeom prst="roundRect">
            <a:avLst>
              <a:gd name="adj" fmla="val 35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56402" y="1627632"/>
            <a:ext cx="566928" cy="566928"/>
          </a:xfrm>
          <a:prstGeom prst="ellipse">
            <a:avLst/>
          </a:prstGeom>
          <a:solidFill>
            <a:srgbClr val="B59A6B"/>
          </a:solidFill>
          <a:ln w="9525">
            <a:solidFill>
              <a:srgbClr val="353D5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74" y="174650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52237" y="226771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Stilled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552237" y="2532888"/>
            <a:ext cx="137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· PACIFY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570525" y="2798064"/>
            <a:ext cx="133868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Arrested, not dead: dry motionless leaves, pale bark, sand in the roots.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128662" y="1481328"/>
            <a:ext cx="1558138" cy="2487168"/>
          </a:xfrm>
          <a:prstGeom prst="roundRect">
            <a:avLst>
              <a:gd name="adj" fmla="val 352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624267" y="1627632"/>
            <a:ext cx="566928" cy="566928"/>
          </a:xfrm>
          <a:prstGeom prst="ellipse">
            <a:avLst/>
          </a:prstGeom>
          <a:solidFill>
            <a:srgbClr val="FF6A2A"/>
          </a:solidFill>
          <a:ln w="9525">
            <a:solidFill>
              <a:srgbClr val="353D5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139" y="174650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220102" y="2267712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Ashen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220102" y="2532888"/>
            <a:ext cx="13752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· DESTROY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7238390" y="2798064"/>
            <a:ext cx="133868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Charred trunks, no canopy, ash floor, embers. Burns down, becomes passable, never reverts. Not snow.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rules  </a:t>
            </a:r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at 0.6, release below 0.4, 20 s dwell. Trees turn one by one, like weather crossing the forest; never a half-owned look, never flicker.  </a:t>
            </a:r>
            <a:pPr indent="0" marL="0">
              <a:buNone/>
            </a:pPr>
            <a:r>
              <a:rPr lang="en-US" sz="1000" b="1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Analogues  </a:t>
            </a:r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 → tiles / sandstone / ash / crust; oak → blossoming / dried / charred / crystalled.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· GROUND &amp; RESOURCES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Mid-value ground, meaningful glow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Hand-painted, low-frequency, ~8 m tiling. These are RENDERED colours — the albedo sits about one step brighter.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3F5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7190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 (base)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#3F5A3A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2E443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21762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 dark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#2E4430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5A4A3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26334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 path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#5A4A3A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6E6C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30906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stone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#6E6C68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4A4F5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35478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rock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#4A4F58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66928" cy="365760"/>
          </a:xfrm>
          <a:prstGeom prst="roundRect">
            <a:avLst>
              <a:gd name="adj" fmla="val 12500"/>
            </a:avLst>
          </a:prstGeom>
          <a:solidFill>
            <a:srgbClr val="05060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400507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#05060C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74720" y="1481328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02736" y="1609344"/>
            <a:ext cx="402336" cy="402336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67335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114800" y="15910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outcrop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114800" y="18653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CELL · #5FD8E8 ×3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602736" y="2139696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gem cluster with a cyan veil seam radiating into the ground.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44768" y="1481328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72784" y="1609344"/>
            <a:ext cx="402336" cy="402336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7335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784848" y="15910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deposit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784848" y="18653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CELLS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6272784" y="2139696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grey rock with rust-orange ore veins; not emissive. Clears when exhausted.</a:t>
            </a:r>
            <a:pPr indent="0" marL="0">
              <a:buNone/>
            </a:pPr>
            <a:r>
              <a:rPr lang="en-US" sz="9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474720" y="3145536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602736" y="3273552"/>
            <a:ext cx="402336" cy="402336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333756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114800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Veilsteel deposit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0" y="352958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'SHARP CRYSTALS' · 1 CELL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3602736" y="380390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Steel-grey metallic blades with a faint cyan edge (×1.5), below veilstone.</a:t>
            </a:r>
            <a:pPr indent="0" marL="0">
              <a:buNone/>
            </a:pPr>
            <a:r>
              <a:rPr lang="en-US" sz="9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proposed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44768" y="3145536"/>
            <a:ext cx="2542032" cy="1536192"/>
          </a:xfrm>
          <a:prstGeom prst="roundRect">
            <a:avLst>
              <a:gd name="adj" fmla="val 3571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272784" y="3273552"/>
            <a:ext cx="402336" cy="402336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33756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784848" y="32552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6784848" y="352958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SYNTY FANTASY KINGDOM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6272784" y="380390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Rocks, stumps, fallen logs. Dead trees are the one missing asset.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· FIRE, ROADS &amp; FOG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tells the story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1790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557850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" y="148132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148132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and trees as authored; the only state that can ignite.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7824" y="217627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24942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FF6A2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7824" y="221284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221284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cracks ×3 flickering, flame plumes, smoke. Damages everyone.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77824" y="290779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98094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2A2A2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94436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29443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bare, cosmetic; regrows to the original ground over time.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" y="363931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71246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6E6C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" y="367588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367588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Rock, road, sand, crust, water — natural firebreaks.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151790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6E5C4A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29784" y="148132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Earthen roads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148132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0, curse, unclaimed and construction: dirt ×1.15, two wheel ruts, moss strip.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129784" y="217627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24942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737068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29784" y="221284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paving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221284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Age 1 ground only: slate brick / sandstone / dark flagstone. Network-only.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129784" y="290779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298094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0B0E1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29784" y="294436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of war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294436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Navy-purple mist, soft edge, drifting cloud noise. Unexplored is opaque; explored 0.55.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129784" y="3639312"/>
            <a:ext cx="3557016" cy="0"/>
          </a:xfrm>
          <a:prstGeom prst="line">
            <a:avLst/>
          </a:prstGeom>
          <a:noFill/>
          <a:ln w="9525">
            <a:solidFill>
              <a:srgbClr val="232A4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9160" y="3712464"/>
            <a:ext cx="310896" cy="585216"/>
          </a:xfrm>
          <a:prstGeom prst="roundRect">
            <a:avLst>
              <a:gd name="adj" fmla="val 11765"/>
            </a:avLst>
          </a:prstGeom>
          <a:solidFill>
            <a:srgbClr val="05060C"/>
          </a:solidFill>
          <a:ln w="9525">
            <a:solidFill>
              <a:srgbClr val="353D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29784" y="367588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void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367588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skybox. Terrain falls into cliff rock, then the void.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GUIDE IS FINAL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&amp; proposed looks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10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palette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1965960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Alanthor and Feraldis hexes are locked. Sandstone, copper, indigo and gold here are proposals. Runai at dusk needs a comp.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40024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49752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159105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06952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kits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349752" y="1965960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King Lexor is designed. The Seer and the Warlord have roles, not names, looks or kits.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022848" y="1417320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32576" y="1527048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159105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89776" y="1508760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visuals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132576" y="1965960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Destroy, pacify and purify have no written look. Their rows on the curse slide are proposals.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94436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24128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ward VFX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" y="3319272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purple particles, which breaks 'purple = curse'. Recolour to Alanthor white-blue.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240024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349752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60" y="294436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806952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assets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3349752" y="3319272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trees for Blighted forests (Synty FK has none). The art-prompt files the brief cites don't exist.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022848" y="2770632"/>
            <a:ext cx="2663952" cy="1234440"/>
          </a:xfrm>
          <a:prstGeom prst="roundRect">
            <a:avLst>
              <a:gd name="adj" fmla="val 4444"/>
            </a:avLst>
          </a:prstGeom>
          <a:solidFill>
            <a:srgbClr val="1B2033"/>
          </a:solidFill>
          <a:ln w="12700">
            <a:solidFill>
              <a:srgbClr val="1B2033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32576" y="2880360"/>
            <a:ext cx="384048" cy="384048"/>
          </a:xfrm>
          <a:prstGeom prst="ellipse">
            <a:avLst/>
          </a:prstGeom>
          <a:solidFill>
            <a:srgbClr val="232A40"/>
          </a:solidFill>
          <a:ln w="12700">
            <a:solidFill>
              <a:srgbClr val="232A40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6584" y="2944368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589776" y="2862072"/>
            <a:ext cx="200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outlines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6132576" y="3319272"/>
            <a:ext cx="2444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A/B experiment against the DOTA direction — switch it off before any release unless adopted.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Shardroot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Waning Border — Visual Style Guide</dc:title>
  <dc:subject>PptxGenJS Presentation</dc:subject>
  <dc:creator>PptxGenJS</dc:creator>
  <cp:lastModifiedBy>PptxGenJS</cp:lastModifiedBy>
  <cp:revision>1</cp:revision>
  <dcterms:created xsi:type="dcterms:W3CDTF">2026-09-27T12:50:56Z</dcterms:created>
  <dcterms:modified xsi:type="dcterms:W3CDTF">2026-09-27T12:50:56Z</dcterms:modified>
</cp:coreProperties>
</file>